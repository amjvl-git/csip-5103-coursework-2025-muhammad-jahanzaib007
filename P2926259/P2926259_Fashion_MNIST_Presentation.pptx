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a0044b9416_2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a0044b9416_2_7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a0044b9416_2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g3a0044b9416_2_8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a0044b9416_2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g3a0044b9416_2_10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a0044b9416_2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g3a0044b9416_2_11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a0044b9416_2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g3a0044b9416_2_13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a0044b9416_2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g3a0044b9416_2_13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a0044b9416_2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g3a0044b9416_2_16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a0044b9416_2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g3a0044b9416_2_16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a0044b9416_2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g3a0044b9416_2_17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a0044b9416_2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g3a0044b9416_2_19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a0044b9416_2_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g3a0044b9416_2_20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a0044b9416_2_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g3a0044b9416_2_20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a0044b9416_2_2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g3a0044b9416_2_22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a0044b9416_2_2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g3a0044b9416_2_23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a0044b9416_2_2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g3a0044b9416_2_24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a0044b9416_2_2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g3a0044b9416_2_26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a0044b9416_2_2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g3a0044b9416_2_27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a0044b9416_2_2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g3a0044b9416_2_27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a0044b9416_2_2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g3a0044b9416_2_28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a0044b9416_2_3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g3a0044b9416_2_30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a0044b9416_2_3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g3a0044b9416_2_30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a0044b9416_2_3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g3a0044b9416_2_31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3a0044b9416_2_3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g3a0044b9416_2_33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a0044b9416_2_3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g3a0044b9416_2_34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3a0044b9416_2_3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g3a0044b9416_2_34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subTitle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722313" y="3305175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457200" y="1200150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81" name="Google Shape;81;p18"/>
          <p:cNvSpPr txBox="1"/>
          <p:nvPr>
            <p:ph idx="2" type="body"/>
          </p:nvPr>
        </p:nvSpPr>
        <p:spPr>
          <a:xfrm>
            <a:off x="4648200" y="1200150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82" name="Google Shape;82;p18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88" name="Google Shape;88;p19"/>
          <p:cNvSpPr txBox="1"/>
          <p:nvPr>
            <p:ph idx="2" type="body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89" name="Google Shape;89;p19"/>
          <p:cNvSpPr txBox="1"/>
          <p:nvPr>
            <p:ph idx="3" type="body"/>
          </p:nvPr>
        </p:nvSpPr>
        <p:spPr>
          <a:xfrm>
            <a:off x="4645025" y="1151335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90" name="Google Shape;90;p19"/>
          <p:cNvSpPr txBox="1"/>
          <p:nvPr>
            <p:ph idx="4" type="body"/>
          </p:nvPr>
        </p:nvSpPr>
        <p:spPr>
          <a:xfrm>
            <a:off x="4645025" y="1631156"/>
            <a:ext cx="4041775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91" name="Google Shape;91;p19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457200" y="204788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457200" y="1076325"/>
            <a:ext cx="3008313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2874764" y="-1217414"/>
            <a:ext cx="339447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5463778" y="1371600"/>
            <a:ext cx="4388644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1272778" y="-609600"/>
            <a:ext cx="4388644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6B35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/>
          <p:nvPr/>
        </p:nvSpPr>
        <p:spPr>
          <a:xfrm>
            <a:off x="914400" y="1714500"/>
            <a:ext cx="73152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5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Fashion-MNIST Classification</a:t>
            </a:r>
            <a:endParaRPr/>
          </a:p>
        </p:txBody>
      </p:sp>
      <p:sp>
        <p:nvSpPr>
          <p:cNvPr id="130" name="Google Shape;130;p25"/>
          <p:cNvSpPr txBox="1"/>
          <p:nvPr/>
        </p:nvSpPr>
        <p:spPr>
          <a:xfrm>
            <a:off x="914400" y="3429000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Comparative Analysis of ANN vs CNN</a:t>
            </a:r>
            <a:endParaRPr/>
          </a:p>
        </p:txBody>
      </p:sp>
      <p:sp>
        <p:nvSpPr>
          <p:cNvPr id="131" name="Google Shape;131;p25"/>
          <p:cNvSpPr txBox="1"/>
          <p:nvPr/>
        </p:nvSpPr>
        <p:spPr>
          <a:xfrm>
            <a:off x="181725" y="4592525"/>
            <a:ext cx="2283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Student ID: P2926259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6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2D2D2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26"/>
          <p:cNvSpPr txBox="1"/>
          <p:nvPr/>
        </p:nvSpPr>
        <p:spPr>
          <a:xfrm>
            <a:off x="257700" y="2063850"/>
            <a:ext cx="31422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Contents</a:t>
            </a:r>
            <a:endParaRPr/>
          </a:p>
        </p:txBody>
      </p:sp>
      <p:sp>
        <p:nvSpPr>
          <p:cNvPr id="138" name="Google Shape;138;p26"/>
          <p:cNvSpPr txBox="1"/>
          <p:nvPr/>
        </p:nvSpPr>
        <p:spPr>
          <a:xfrm>
            <a:off x="4114800" y="548640"/>
            <a:ext cx="914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/>
          </a:p>
        </p:txBody>
      </p:sp>
      <p:sp>
        <p:nvSpPr>
          <p:cNvPr id="139" name="Google Shape;139;p26"/>
          <p:cNvSpPr txBox="1"/>
          <p:nvPr/>
        </p:nvSpPr>
        <p:spPr>
          <a:xfrm>
            <a:off x="5029200" y="548640"/>
            <a:ext cx="3657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Project Overview</a:t>
            </a:r>
            <a:endParaRPr/>
          </a:p>
        </p:txBody>
      </p:sp>
      <p:sp>
        <p:nvSpPr>
          <p:cNvPr id="140" name="Google Shape;140;p26"/>
          <p:cNvSpPr txBox="1"/>
          <p:nvPr/>
        </p:nvSpPr>
        <p:spPr>
          <a:xfrm>
            <a:off x="4114800" y="925830"/>
            <a:ext cx="914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C8C8C8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/>
          </a:p>
        </p:txBody>
      </p:sp>
      <p:sp>
        <p:nvSpPr>
          <p:cNvPr id="141" name="Google Shape;141;p26"/>
          <p:cNvSpPr txBox="1"/>
          <p:nvPr/>
        </p:nvSpPr>
        <p:spPr>
          <a:xfrm>
            <a:off x="5029200" y="925830"/>
            <a:ext cx="3657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rPr>
              <a:t>Dataset &amp; Preprocessing</a:t>
            </a:r>
            <a:endParaRPr/>
          </a:p>
        </p:txBody>
      </p:sp>
      <p:sp>
        <p:nvSpPr>
          <p:cNvPr id="142" name="Google Shape;142;p26"/>
          <p:cNvSpPr txBox="1"/>
          <p:nvPr/>
        </p:nvSpPr>
        <p:spPr>
          <a:xfrm>
            <a:off x="4114800" y="1303020"/>
            <a:ext cx="914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C8C8C8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/>
          </a:p>
        </p:txBody>
      </p:sp>
      <p:sp>
        <p:nvSpPr>
          <p:cNvPr id="143" name="Google Shape;143;p26"/>
          <p:cNvSpPr txBox="1"/>
          <p:nvPr/>
        </p:nvSpPr>
        <p:spPr>
          <a:xfrm>
            <a:off x="5029200" y="1303020"/>
            <a:ext cx="3657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rPr>
              <a:t>Model Architectures</a:t>
            </a:r>
            <a:endParaRPr/>
          </a:p>
        </p:txBody>
      </p:sp>
      <p:sp>
        <p:nvSpPr>
          <p:cNvPr id="144" name="Google Shape;144;p26"/>
          <p:cNvSpPr txBox="1"/>
          <p:nvPr/>
        </p:nvSpPr>
        <p:spPr>
          <a:xfrm>
            <a:off x="4114800" y="1680210"/>
            <a:ext cx="914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C8C8C8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/>
          </a:p>
        </p:txBody>
      </p:sp>
      <p:sp>
        <p:nvSpPr>
          <p:cNvPr id="145" name="Google Shape;145;p26"/>
          <p:cNvSpPr txBox="1"/>
          <p:nvPr/>
        </p:nvSpPr>
        <p:spPr>
          <a:xfrm>
            <a:off x="5029200" y="1680210"/>
            <a:ext cx="3657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rPr>
              <a:t>Training Results</a:t>
            </a:r>
            <a:endParaRPr/>
          </a:p>
        </p:txBody>
      </p:sp>
      <p:sp>
        <p:nvSpPr>
          <p:cNvPr id="146" name="Google Shape;146;p26"/>
          <p:cNvSpPr txBox="1"/>
          <p:nvPr/>
        </p:nvSpPr>
        <p:spPr>
          <a:xfrm>
            <a:off x="4114800" y="2057400"/>
            <a:ext cx="914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C8C8C8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/>
          </a:p>
        </p:txBody>
      </p:sp>
      <p:sp>
        <p:nvSpPr>
          <p:cNvPr id="147" name="Google Shape;147;p26"/>
          <p:cNvSpPr txBox="1"/>
          <p:nvPr/>
        </p:nvSpPr>
        <p:spPr>
          <a:xfrm>
            <a:off x="5029200" y="2057400"/>
            <a:ext cx="3657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rPr>
              <a:t>Performance Comparison</a:t>
            </a:r>
            <a:endParaRPr/>
          </a:p>
        </p:txBody>
      </p:sp>
      <p:sp>
        <p:nvSpPr>
          <p:cNvPr id="148" name="Google Shape;148;p26"/>
          <p:cNvSpPr txBox="1"/>
          <p:nvPr/>
        </p:nvSpPr>
        <p:spPr>
          <a:xfrm>
            <a:off x="4114800" y="2434590"/>
            <a:ext cx="914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C8C8C8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/>
          </a:p>
        </p:txBody>
      </p:sp>
      <p:sp>
        <p:nvSpPr>
          <p:cNvPr id="149" name="Google Shape;149;p26"/>
          <p:cNvSpPr txBox="1"/>
          <p:nvPr/>
        </p:nvSpPr>
        <p:spPr>
          <a:xfrm>
            <a:off x="5029200" y="2434590"/>
            <a:ext cx="3657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rPr>
              <a:t>Confusion Analysis</a:t>
            </a:r>
            <a:endParaRPr/>
          </a:p>
        </p:txBody>
      </p:sp>
      <p:sp>
        <p:nvSpPr>
          <p:cNvPr id="150" name="Google Shape;150;p26"/>
          <p:cNvSpPr txBox="1"/>
          <p:nvPr/>
        </p:nvSpPr>
        <p:spPr>
          <a:xfrm>
            <a:off x="4114800" y="2811780"/>
            <a:ext cx="914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C8C8C8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/>
          </a:p>
        </p:txBody>
      </p:sp>
      <p:sp>
        <p:nvSpPr>
          <p:cNvPr id="151" name="Google Shape;151;p26"/>
          <p:cNvSpPr txBox="1"/>
          <p:nvPr/>
        </p:nvSpPr>
        <p:spPr>
          <a:xfrm>
            <a:off x="5029200" y="2811780"/>
            <a:ext cx="3657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rPr>
              <a:t>Key Findings</a:t>
            </a:r>
            <a:endParaRPr/>
          </a:p>
        </p:txBody>
      </p:sp>
      <p:sp>
        <p:nvSpPr>
          <p:cNvPr id="152" name="Google Shape;152;p26"/>
          <p:cNvSpPr txBox="1"/>
          <p:nvPr/>
        </p:nvSpPr>
        <p:spPr>
          <a:xfrm>
            <a:off x="4114800" y="3188970"/>
            <a:ext cx="914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C8C8C8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/>
          </a:p>
        </p:txBody>
      </p:sp>
      <p:sp>
        <p:nvSpPr>
          <p:cNvPr id="153" name="Google Shape;153;p26"/>
          <p:cNvSpPr txBox="1"/>
          <p:nvPr/>
        </p:nvSpPr>
        <p:spPr>
          <a:xfrm>
            <a:off x="5029200" y="3188970"/>
            <a:ext cx="3657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rPr>
              <a:t>Conclusions</a:t>
            </a:r>
            <a:endParaRPr/>
          </a:p>
        </p:txBody>
      </p:sp>
      <p:sp>
        <p:nvSpPr>
          <p:cNvPr id="154" name="Google Shape;154;p26"/>
          <p:cNvSpPr txBox="1"/>
          <p:nvPr/>
        </p:nvSpPr>
        <p:spPr>
          <a:xfrm>
            <a:off x="4114800" y="3566160"/>
            <a:ext cx="914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C8C8C8"/>
                </a:solidFill>
                <a:latin typeface="Calibri"/>
                <a:ea typeface="Calibri"/>
                <a:cs typeface="Calibri"/>
                <a:sym typeface="Calibri"/>
              </a:rPr>
              <a:t>09</a:t>
            </a:r>
            <a:endParaRPr/>
          </a:p>
        </p:txBody>
      </p:sp>
      <p:sp>
        <p:nvSpPr>
          <p:cNvPr id="155" name="Google Shape;155;p26"/>
          <p:cNvSpPr txBox="1"/>
          <p:nvPr/>
        </p:nvSpPr>
        <p:spPr>
          <a:xfrm>
            <a:off x="5029200" y="3566160"/>
            <a:ext cx="3657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rPr>
              <a:t>Q&amp;A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7"/>
          <p:cNvSpPr txBox="1"/>
          <p:nvPr/>
        </p:nvSpPr>
        <p:spPr>
          <a:xfrm>
            <a:off x="457200" y="34290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40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01  Project Overview</a:t>
            </a:r>
            <a:endParaRPr/>
          </a:p>
        </p:txBody>
      </p:sp>
      <p:sp>
        <p:nvSpPr>
          <p:cNvPr id="161" name="Google Shape;161;p27"/>
          <p:cNvSpPr txBox="1"/>
          <p:nvPr/>
        </p:nvSpPr>
        <p:spPr>
          <a:xfrm>
            <a:off x="731520" y="1234440"/>
            <a:ext cx="77724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Objective: </a:t>
            </a:r>
            <a:r>
              <a:rPr b="0" i="0" lang="en" sz="16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Develop and compare neural network models for Fashion-MNIST classification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Dataset: </a:t>
            </a:r>
            <a:r>
              <a:rPr b="0" i="0" lang="en" sz="16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60,000 training + 10,000 test images (28x28 grayscale, 10 clothing categories)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Models: </a:t>
            </a:r>
            <a:r>
              <a:rPr b="0" i="0" lang="en" sz="16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ANN (567K params) vs CNN (422K params)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Goal: </a:t>
            </a:r>
            <a:r>
              <a:rPr b="0" i="0" lang="en" sz="16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Analyze performance, identify strengths/weaknesses, demonstrate deep learning principles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8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2D2D2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28"/>
          <p:cNvSpPr txBox="1"/>
          <p:nvPr/>
        </p:nvSpPr>
        <p:spPr>
          <a:xfrm>
            <a:off x="257700" y="2063850"/>
            <a:ext cx="31422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Contents</a:t>
            </a:r>
            <a:endParaRPr/>
          </a:p>
        </p:txBody>
      </p:sp>
      <p:sp>
        <p:nvSpPr>
          <p:cNvPr id="168" name="Google Shape;168;p28"/>
          <p:cNvSpPr txBox="1"/>
          <p:nvPr/>
        </p:nvSpPr>
        <p:spPr>
          <a:xfrm>
            <a:off x="4114800" y="548640"/>
            <a:ext cx="914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C8C8C8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/>
          </a:p>
        </p:txBody>
      </p:sp>
      <p:sp>
        <p:nvSpPr>
          <p:cNvPr id="169" name="Google Shape;169;p28"/>
          <p:cNvSpPr txBox="1"/>
          <p:nvPr/>
        </p:nvSpPr>
        <p:spPr>
          <a:xfrm>
            <a:off x="5029200" y="548640"/>
            <a:ext cx="3657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rPr>
              <a:t>Project Overview</a:t>
            </a:r>
            <a:endParaRPr/>
          </a:p>
        </p:txBody>
      </p:sp>
      <p:sp>
        <p:nvSpPr>
          <p:cNvPr id="170" name="Google Shape;170;p28"/>
          <p:cNvSpPr txBox="1"/>
          <p:nvPr/>
        </p:nvSpPr>
        <p:spPr>
          <a:xfrm>
            <a:off x="4114800" y="925830"/>
            <a:ext cx="914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/>
          </a:p>
        </p:txBody>
      </p:sp>
      <p:sp>
        <p:nvSpPr>
          <p:cNvPr id="171" name="Google Shape;171;p28"/>
          <p:cNvSpPr txBox="1"/>
          <p:nvPr/>
        </p:nvSpPr>
        <p:spPr>
          <a:xfrm>
            <a:off x="5029200" y="925830"/>
            <a:ext cx="3657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Dataset &amp; Preprocessing</a:t>
            </a:r>
            <a:endParaRPr/>
          </a:p>
        </p:txBody>
      </p:sp>
      <p:sp>
        <p:nvSpPr>
          <p:cNvPr id="172" name="Google Shape;172;p28"/>
          <p:cNvSpPr txBox="1"/>
          <p:nvPr/>
        </p:nvSpPr>
        <p:spPr>
          <a:xfrm>
            <a:off x="4114800" y="1303020"/>
            <a:ext cx="914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C8C8C8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/>
          </a:p>
        </p:txBody>
      </p:sp>
      <p:sp>
        <p:nvSpPr>
          <p:cNvPr id="173" name="Google Shape;173;p28"/>
          <p:cNvSpPr txBox="1"/>
          <p:nvPr/>
        </p:nvSpPr>
        <p:spPr>
          <a:xfrm>
            <a:off x="5029200" y="1303020"/>
            <a:ext cx="3657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rPr>
              <a:t>Model Architectures</a:t>
            </a:r>
            <a:endParaRPr/>
          </a:p>
        </p:txBody>
      </p:sp>
      <p:sp>
        <p:nvSpPr>
          <p:cNvPr id="174" name="Google Shape;174;p28"/>
          <p:cNvSpPr txBox="1"/>
          <p:nvPr/>
        </p:nvSpPr>
        <p:spPr>
          <a:xfrm>
            <a:off x="4114800" y="1680210"/>
            <a:ext cx="914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C8C8C8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/>
          </a:p>
        </p:txBody>
      </p:sp>
      <p:sp>
        <p:nvSpPr>
          <p:cNvPr id="175" name="Google Shape;175;p28"/>
          <p:cNvSpPr txBox="1"/>
          <p:nvPr/>
        </p:nvSpPr>
        <p:spPr>
          <a:xfrm>
            <a:off x="5029200" y="1680210"/>
            <a:ext cx="3657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rPr>
              <a:t>Training Results</a:t>
            </a:r>
            <a:endParaRPr/>
          </a:p>
        </p:txBody>
      </p:sp>
      <p:sp>
        <p:nvSpPr>
          <p:cNvPr id="176" name="Google Shape;176;p28"/>
          <p:cNvSpPr txBox="1"/>
          <p:nvPr/>
        </p:nvSpPr>
        <p:spPr>
          <a:xfrm>
            <a:off x="4114800" y="2057400"/>
            <a:ext cx="914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C8C8C8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/>
          </a:p>
        </p:txBody>
      </p:sp>
      <p:sp>
        <p:nvSpPr>
          <p:cNvPr id="177" name="Google Shape;177;p28"/>
          <p:cNvSpPr txBox="1"/>
          <p:nvPr/>
        </p:nvSpPr>
        <p:spPr>
          <a:xfrm>
            <a:off x="5029200" y="2057400"/>
            <a:ext cx="3657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rPr>
              <a:t>Performance Comparison</a:t>
            </a:r>
            <a:endParaRPr/>
          </a:p>
        </p:txBody>
      </p:sp>
      <p:sp>
        <p:nvSpPr>
          <p:cNvPr id="178" name="Google Shape;178;p28"/>
          <p:cNvSpPr txBox="1"/>
          <p:nvPr/>
        </p:nvSpPr>
        <p:spPr>
          <a:xfrm>
            <a:off x="4114800" y="2434590"/>
            <a:ext cx="914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C8C8C8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/>
          </a:p>
        </p:txBody>
      </p:sp>
      <p:sp>
        <p:nvSpPr>
          <p:cNvPr id="179" name="Google Shape;179;p28"/>
          <p:cNvSpPr txBox="1"/>
          <p:nvPr/>
        </p:nvSpPr>
        <p:spPr>
          <a:xfrm>
            <a:off x="5029200" y="2434590"/>
            <a:ext cx="3657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rPr>
              <a:t>Confusion Analysis</a:t>
            </a:r>
            <a:endParaRPr/>
          </a:p>
        </p:txBody>
      </p:sp>
      <p:sp>
        <p:nvSpPr>
          <p:cNvPr id="180" name="Google Shape;180;p28"/>
          <p:cNvSpPr txBox="1"/>
          <p:nvPr/>
        </p:nvSpPr>
        <p:spPr>
          <a:xfrm>
            <a:off x="4114800" y="2811780"/>
            <a:ext cx="914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C8C8C8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/>
          </a:p>
        </p:txBody>
      </p:sp>
      <p:sp>
        <p:nvSpPr>
          <p:cNvPr id="181" name="Google Shape;181;p28"/>
          <p:cNvSpPr txBox="1"/>
          <p:nvPr/>
        </p:nvSpPr>
        <p:spPr>
          <a:xfrm>
            <a:off x="5029200" y="2811780"/>
            <a:ext cx="3657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rPr>
              <a:t>Key Findings</a:t>
            </a:r>
            <a:endParaRPr/>
          </a:p>
        </p:txBody>
      </p:sp>
      <p:sp>
        <p:nvSpPr>
          <p:cNvPr id="182" name="Google Shape;182;p28"/>
          <p:cNvSpPr txBox="1"/>
          <p:nvPr/>
        </p:nvSpPr>
        <p:spPr>
          <a:xfrm>
            <a:off x="4114800" y="3188970"/>
            <a:ext cx="914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C8C8C8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/>
          </a:p>
        </p:txBody>
      </p:sp>
      <p:sp>
        <p:nvSpPr>
          <p:cNvPr id="183" name="Google Shape;183;p28"/>
          <p:cNvSpPr txBox="1"/>
          <p:nvPr/>
        </p:nvSpPr>
        <p:spPr>
          <a:xfrm>
            <a:off x="5029200" y="3188970"/>
            <a:ext cx="3657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rPr>
              <a:t>Conclusions</a:t>
            </a:r>
            <a:endParaRPr/>
          </a:p>
        </p:txBody>
      </p:sp>
      <p:sp>
        <p:nvSpPr>
          <p:cNvPr id="184" name="Google Shape;184;p28"/>
          <p:cNvSpPr txBox="1"/>
          <p:nvPr/>
        </p:nvSpPr>
        <p:spPr>
          <a:xfrm>
            <a:off x="4114800" y="3566160"/>
            <a:ext cx="914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C8C8C8"/>
                </a:solidFill>
                <a:latin typeface="Calibri"/>
                <a:ea typeface="Calibri"/>
                <a:cs typeface="Calibri"/>
                <a:sym typeface="Calibri"/>
              </a:rPr>
              <a:t>09</a:t>
            </a:r>
            <a:endParaRPr/>
          </a:p>
        </p:txBody>
      </p:sp>
      <p:sp>
        <p:nvSpPr>
          <p:cNvPr id="185" name="Google Shape;185;p28"/>
          <p:cNvSpPr txBox="1"/>
          <p:nvPr/>
        </p:nvSpPr>
        <p:spPr>
          <a:xfrm>
            <a:off x="5029200" y="3566160"/>
            <a:ext cx="3657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rPr>
              <a:t>Q&amp;A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9"/>
          <p:cNvSpPr txBox="1"/>
          <p:nvPr/>
        </p:nvSpPr>
        <p:spPr>
          <a:xfrm>
            <a:off x="457200" y="34290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40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02  Dataset &amp; Preprocessing</a:t>
            </a:r>
            <a:endParaRPr/>
          </a:p>
        </p:txBody>
      </p:sp>
      <p:sp>
        <p:nvSpPr>
          <p:cNvPr id="191" name="Google Shape;191;p29"/>
          <p:cNvSpPr txBox="1"/>
          <p:nvPr/>
        </p:nvSpPr>
        <p:spPr>
          <a:xfrm>
            <a:off x="731520" y="1234440"/>
            <a:ext cx="77724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Data Split: </a:t>
            </a:r>
            <a:r>
              <a:rPr b="0" i="0" lang="en" sz="16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80% training (48K), 20% validation (12K), 10K test - No data leakage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Normalization: </a:t>
            </a:r>
            <a:r>
              <a:rPr b="0" i="0" lang="en" sz="16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Standardized with mean=0.286, std=0.353 (Fashion-MNIST statistics)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Batch Processing: </a:t>
            </a:r>
            <a:r>
              <a:rPr b="0" i="0" lang="en" sz="16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Efficient DataLoader with batch size 64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Classes: </a:t>
            </a:r>
            <a:r>
              <a:rPr b="0" i="0" lang="en" sz="16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T-shirt, Trouser, Pullover, Dress, Coat, Sandal, Shirt, Sneaker, Bag, Ankle boot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0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2D2D2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30"/>
          <p:cNvSpPr txBox="1"/>
          <p:nvPr/>
        </p:nvSpPr>
        <p:spPr>
          <a:xfrm>
            <a:off x="257700" y="2063850"/>
            <a:ext cx="31422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Contents</a:t>
            </a:r>
            <a:endParaRPr/>
          </a:p>
        </p:txBody>
      </p:sp>
      <p:sp>
        <p:nvSpPr>
          <p:cNvPr id="198" name="Google Shape;198;p30"/>
          <p:cNvSpPr txBox="1"/>
          <p:nvPr/>
        </p:nvSpPr>
        <p:spPr>
          <a:xfrm>
            <a:off x="4114800" y="548640"/>
            <a:ext cx="914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C8C8C8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/>
          </a:p>
        </p:txBody>
      </p:sp>
      <p:sp>
        <p:nvSpPr>
          <p:cNvPr id="199" name="Google Shape;199;p30"/>
          <p:cNvSpPr txBox="1"/>
          <p:nvPr/>
        </p:nvSpPr>
        <p:spPr>
          <a:xfrm>
            <a:off x="5029200" y="548640"/>
            <a:ext cx="3657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rPr>
              <a:t>Project Overview</a:t>
            </a:r>
            <a:endParaRPr/>
          </a:p>
        </p:txBody>
      </p:sp>
      <p:sp>
        <p:nvSpPr>
          <p:cNvPr id="200" name="Google Shape;200;p30"/>
          <p:cNvSpPr txBox="1"/>
          <p:nvPr/>
        </p:nvSpPr>
        <p:spPr>
          <a:xfrm>
            <a:off x="4114800" y="925830"/>
            <a:ext cx="914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C8C8C8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/>
          </a:p>
        </p:txBody>
      </p:sp>
      <p:sp>
        <p:nvSpPr>
          <p:cNvPr id="201" name="Google Shape;201;p30"/>
          <p:cNvSpPr txBox="1"/>
          <p:nvPr/>
        </p:nvSpPr>
        <p:spPr>
          <a:xfrm>
            <a:off x="5029200" y="925830"/>
            <a:ext cx="3657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rPr>
              <a:t>Dataset &amp; Preprocessing</a:t>
            </a:r>
            <a:endParaRPr/>
          </a:p>
        </p:txBody>
      </p:sp>
      <p:sp>
        <p:nvSpPr>
          <p:cNvPr id="202" name="Google Shape;202;p30"/>
          <p:cNvSpPr txBox="1"/>
          <p:nvPr/>
        </p:nvSpPr>
        <p:spPr>
          <a:xfrm>
            <a:off x="4114800" y="1303020"/>
            <a:ext cx="914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/>
          </a:p>
        </p:txBody>
      </p:sp>
      <p:sp>
        <p:nvSpPr>
          <p:cNvPr id="203" name="Google Shape;203;p30"/>
          <p:cNvSpPr txBox="1"/>
          <p:nvPr/>
        </p:nvSpPr>
        <p:spPr>
          <a:xfrm>
            <a:off x="5029200" y="1303020"/>
            <a:ext cx="3657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Model Architectures</a:t>
            </a:r>
            <a:endParaRPr/>
          </a:p>
        </p:txBody>
      </p:sp>
      <p:sp>
        <p:nvSpPr>
          <p:cNvPr id="204" name="Google Shape;204;p30"/>
          <p:cNvSpPr txBox="1"/>
          <p:nvPr/>
        </p:nvSpPr>
        <p:spPr>
          <a:xfrm>
            <a:off x="4114800" y="1680210"/>
            <a:ext cx="914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C8C8C8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/>
          </a:p>
        </p:txBody>
      </p:sp>
      <p:sp>
        <p:nvSpPr>
          <p:cNvPr id="205" name="Google Shape;205;p30"/>
          <p:cNvSpPr txBox="1"/>
          <p:nvPr/>
        </p:nvSpPr>
        <p:spPr>
          <a:xfrm>
            <a:off x="5029200" y="1680210"/>
            <a:ext cx="3657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rPr>
              <a:t>Training Results</a:t>
            </a:r>
            <a:endParaRPr/>
          </a:p>
        </p:txBody>
      </p:sp>
      <p:sp>
        <p:nvSpPr>
          <p:cNvPr id="206" name="Google Shape;206;p30"/>
          <p:cNvSpPr txBox="1"/>
          <p:nvPr/>
        </p:nvSpPr>
        <p:spPr>
          <a:xfrm>
            <a:off x="4114800" y="2057400"/>
            <a:ext cx="914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C8C8C8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/>
          </a:p>
        </p:txBody>
      </p:sp>
      <p:sp>
        <p:nvSpPr>
          <p:cNvPr id="207" name="Google Shape;207;p30"/>
          <p:cNvSpPr txBox="1"/>
          <p:nvPr/>
        </p:nvSpPr>
        <p:spPr>
          <a:xfrm>
            <a:off x="5029200" y="2057400"/>
            <a:ext cx="3657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rPr>
              <a:t>Performance Comparison</a:t>
            </a:r>
            <a:endParaRPr/>
          </a:p>
        </p:txBody>
      </p:sp>
      <p:sp>
        <p:nvSpPr>
          <p:cNvPr id="208" name="Google Shape;208;p30"/>
          <p:cNvSpPr txBox="1"/>
          <p:nvPr/>
        </p:nvSpPr>
        <p:spPr>
          <a:xfrm>
            <a:off x="4114800" y="2434590"/>
            <a:ext cx="914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C8C8C8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/>
          </a:p>
        </p:txBody>
      </p:sp>
      <p:sp>
        <p:nvSpPr>
          <p:cNvPr id="209" name="Google Shape;209;p30"/>
          <p:cNvSpPr txBox="1"/>
          <p:nvPr/>
        </p:nvSpPr>
        <p:spPr>
          <a:xfrm>
            <a:off x="5029200" y="2434590"/>
            <a:ext cx="3657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rPr>
              <a:t>Confusion Analysis</a:t>
            </a:r>
            <a:endParaRPr/>
          </a:p>
        </p:txBody>
      </p:sp>
      <p:sp>
        <p:nvSpPr>
          <p:cNvPr id="210" name="Google Shape;210;p30"/>
          <p:cNvSpPr txBox="1"/>
          <p:nvPr/>
        </p:nvSpPr>
        <p:spPr>
          <a:xfrm>
            <a:off x="4114800" y="2811780"/>
            <a:ext cx="914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C8C8C8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/>
          </a:p>
        </p:txBody>
      </p:sp>
      <p:sp>
        <p:nvSpPr>
          <p:cNvPr id="211" name="Google Shape;211;p30"/>
          <p:cNvSpPr txBox="1"/>
          <p:nvPr/>
        </p:nvSpPr>
        <p:spPr>
          <a:xfrm>
            <a:off x="5029200" y="2811780"/>
            <a:ext cx="3657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rPr>
              <a:t>Key Findings</a:t>
            </a:r>
            <a:endParaRPr/>
          </a:p>
        </p:txBody>
      </p:sp>
      <p:sp>
        <p:nvSpPr>
          <p:cNvPr id="212" name="Google Shape;212;p30"/>
          <p:cNvSpPr txBox="1"/>
          <p:nvPr/>
        </p:nvSpPr>
        <p:spPr>
          <a:xfrm>
            <a:off x="4114800" y="3188970"/>
            <a:ext cx="914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C8C8C8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/>
          </a:p>
        </p:txBody>
      </p:sp>
      <p:sp>
        <p:nvSpPr>
          <p:cNvPr id="213" name="Google Shape;213;p30"/>
          <p:cNvSpPr txBox="1"/>
          <p:nvPr/>
        </p:nvSpPr>
        <p:spPr>
          <a:xfrm>
            <a:off x="5029200" y="3188970"/>
            <a:ext cx="3657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rPr>
              <a:t>Conclusions</a:t>
            </a:r>
            <a:endParaRPr/>
          </a:p>
        </p:txBody>
      </p:sp>
      <p:sp>
        <p:nvSpPr>
          <p:cNvPr id="214" name="Google Shape;214;p30"/>
          <p:cNvSpPr txBox="1"/>
          <p:nvPr/>
        </p:nvSpPr>
        <p:spPr>
          <a:xfrm>
            <a:off x="4114800" y="3566160"/>
            <a:ext cx="914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C8C8C8"/>
                </a:solidFill>
                <a:latin typeface="Calibri"/>
                <a:ea typeface="Calibri"/>
                <a:cs typeface="Calibri"/>
                <a:sym typeface="Calibri"/>
              </a:rPr>
              <a:t>09</a:t>
            </a:r>
            <a:endParaRPr/>
          </a:p>
        </p:txBody>
      </p:sp>
      <p:sp>
        <p:nvSpPr>
          <p:cNvPr id="215" name="Google Shape;215;p30"/>
          <p:cNvSpPr txBox="1"/>
          <p:nvPr/>
        </p:nvSpPr>
        <p:spPr>
          <a:xfrm>
            <a:off x="5029200" y="3566160"/>
            <a:ext cx="3657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rPr>
              <a:t>Q&amp;A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1"/>
          <p:cNvSpPr txBox="1"/>
          <p:nvPr/>
        </p:nvSpPr>
        <p:spPr>
          <a:xfrm>
            <a:off x="457200" y="20574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2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03  Model Architectures</a:t>
            </a:r>
            <a:endParaRPr/>
          </a:p>
        </p:txBody>
      </p:sp>
      <p:pic>
        <p:nvPicPr>
          <p:cNvPr descr="architecture_comparison.png" id="221" name="Google Shape;221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822950"/>
            <a:ext cx="9143996" cy="3840501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31"/>
          <p:cNvSpPr txBox="1"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12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ANN: Progressive layer reduction | CNN: Hierarchical feature extraction with batch norm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2"/>
          <p:cNvSpPr txBox="1"/>
          <p:nvPr/>
        </p:nvSpPr>
        <p:spPr>
          <a:xfrm>
            <a:off x="457200" y="34290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40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03  Architecture Details</a:t>
            </a:r>
            <a:endParaRPr/>
          </a:p>
        </p:txBody>
      </p:sp>
      <p:sp>
        <p:nvSpPr>
          <p:cNvPr id="228" name="Google Shape;228;p32"/>
          <p:cNvSpPr txBox="1"/>
          <p:nvPr/>
        </p:nvSpPr>
        <p:spPr>
          <a:xfrm>
            <a:off x="731520" y="1234440"/>
            <a:ext cx="77724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ANN: </a:t>
            </a:r>
            <a:r>
              <a:rPr b="0" i="0" lang="en" sz="16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4 layers: 784→512→256→128→10 | ReLU activation | 30% Dropout regularization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CNN: </a:t>
            </a:r>
            <a:r>
              <a:rPr b="0" i="0" lang="en" sz="16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3 Conv blocks (32→64→128) | Batch normalization | Max pooling (2x2) | FC: 256→128→10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Parameter Efficiency: </a:t>
            </a:r>
            <a:r>
              <a:rPr b="0" i="0" lang="en" sz="16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CNN uses 25% fewer parameters (422K vs 567K) but achieves better performance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Innovation: </a:t>
            </a:r>
            <a:r>
              <a:rPr b="0" i="0" lang="en" sz="16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Batch normalization for stable training, proper regularization to prevent overfitting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3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2D2D2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33"/>
          <p:cNvSpPr txBox="1"/>
          <p:nvPr/>
        </p:nvSpPr>
        <p:spPr>
          <a:xfrm>
            <a:off x="295200" y="2098150"/>
            <a:ext cx="30672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Conten</a:t>
            </a:r>
            <a:r>
              <a:rPr b="1" lang="en" sz="6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1" i="0" lang="en" sz="6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endParaRPr/>
          </a:p>
        </p:txBody>
      </p:sp>
      <p:sp>
        <p:nvSpPr>
          <p:cNvPr id="235" name="Google Shape;235;p33"/>
          <p:cNvSpPr txBox="1"/>
          <p:nvPr/>
        </p:nvSpPr>
        <p:spPr>
          <a:xfrm>
            <a:off x="4114800" y="548640"/>
            <a:ext cx="914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C8C8C8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/>
          </a:p>
        </p:txBody>
      </p:sp>
      <p:sp>
        <p:nvSpPr>
          <p:cNvPr id="236" name="Google Shape;236;p33"/>
          <p:cNvSpPr txBox="1"/>
          <p:nvPr/>
        </p:nvSpPr>
        <p:spPr>
          <a:xfrm>
            <a:off x="5029200" y="548640"/>
            <a:ext cx="3657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rPr>
              <a:t>Project Overview</a:t>
            </a:r>
            <a:endParaRPr/>
          </a:p>
        </p:txBody>
      </p:sp>
      <p:sp>
        <p:nvSpPr>
          <p:cNvPr id="237" name="Google Shape;237;p33"/>
          <p:cNvSpPr txBox="1"/>
          <p:nvPr/>
        </p:nvSpPr>
        <p:spPr>
          <a:xfrm>
            <a:off x="4114800" y="925830"/>
            <a:ext cx="914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C8C8C8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/>
          </a:p>
        </p:txBody>
      </p:sp>
      <p:sp>
        <p:nvSpPr>
          <p:cNvPr id="238" name="Google Shape;238;p33"/>
          <p:cNvSpPr txBox="1"/>
          <p:nvPr/>
        </p:nvSpPr>
        <p:spPr>
          <a:xfrm>
            <a:off x="5029200" y="925830"/>
            <a:ext cx="3657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rPr>
              <a:t>Dataset &amp; Preprocessing</a:t>
            </a:r>
            <a:endParaRPr/>
          </a:p>
        </p:txBody>
      </p:sp>
      <p:sp>
        <p:nvSpPr>
          <p:cNvPr id="239" name="Google Shape;239;p33"/>
          <p:cNvSpPr txBox="1"/>
          <p:nvPr/>
        </p:nvSpPr>
        <p:spPr>
          <a:xfrm>
            <a:off x="4114800" y="1303020"/>
            <a:ext cx="914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C8C8C8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/>
          </a:p>
        </p:txBody>
      </p:sp>
      <p:sp>
        <p:nvSpPr>
          <p:cNvPr id="240" name="Google Shape;240;p33"/>
          <p:cNvSpPr txBox="1"/>
          <p:nvPr/>
        </p:nvSpPr>
        <p:spPr>
          <a:xfrm>
            <a:off x="5029200" y="1303020"/>
            <a:ext cx="3657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rPr>
              <a:t>Model Architectures</a:t>
            </a:r>
            <a:endParaRPr/>
          </a:p>
        </p:txBody>
      </p:sp>
      <p:sp>
        <p:nvSpPr>
          <p:cNvPr id="241" name="Google Shape;241;p33"/>
          <p:cNvSpPr txBox="1"/>
          <p:nvPr/>
        </p:nvSpPr>
        <p:spPr>
          <a:xfrm>
            <a:off x="4114800" y="1680210"/>
            <a:ext cx="914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/>
          </a:p>
        </p:txBody>
      </p:sp>
      <p:sp>
        <p:nvSpPr>
          <p:cNvPr id="242" name="Google Shape;242;p33"/>
          <p:cNvSpPr txBox="1"/>
          <p:nvPr/>
        </p:nvSpPr>
        <p:spPr>
          <a:xfrm>
            <a:off x="5029200" y="1680210"/>
            <a:ext cx="3657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Training Results</a:t>
            </a:r>
            <a:endParaRPr/>
          </a:p>
        </p:txBody>
      </p:sp>
      <p:sp>
        <p:nvSpPr>
          <p:cNvPr id="243" name="Google Shape;243;p33"/>
          <p:cNvSpPr txBox="1"/>
          <p:nvPr/>
        </p:nvSpPr>
        <p:spPr>
          <a:xfrm>
            <a:off x="4114800" y="2057400"/>
            <a:ext cx="914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C8C8C8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/>
          </a:p>
        </p:txBody>
      </p:sp>
      <p:sp>
        <p:nvSpPr>
          <p:cNvPr id="244" name="Google Shape;244;p33"/>
          <p:cNvSpPr txBox="1"/>
          <p:nvPr/>
        </p:nvSpPr>
        <p:spPr>
          <a:xfrm>
            <a:off x="5029200" y="2057400"/>
            <a:ext cx="3657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rPr>
              <a:t>Performance Comparison</a:t>
            </a:r>
            <a:endParaRPr/>
          </a:p>
        </p:txBody>
      </p:sp>
      <p:sp>
        <p:nvSpPr>
          <p:cNvPr id="245" name="Google Shape;245;p33"/>
          <p:cNvSpPr txBox="1"/>
          <p:nvPr/>
        </p:nvSpPr>
        <p:spPr>
          <a:xfrm>
            <a:off x="4114800" y="2434590"/>
            <a:ext cx="914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C8C8C8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/>
          </a:p>
        </p:txBody>
      </p:sp>
      <p:sp>
        <p:nvSpPr>
          <p:cNvPr id="246" name="Google Shape;246;p33"/>
          <p:cNvSpPr txBox="1"/>
          <p:nvPr/>
        </p:nvSpPr>
        <p:spPr>
          <a:xfrm>
            <a:off x="5029200" y="2434590"/>
            <a:ext cx="3657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rPr>
              <a:t>Confusion Analysis</a:t>
            </a:r>
            <a:endParaRPr/>
          </a:p>
        </p:txBody>
      </p:sp>
      <p:sp>
        <p:nvSpPr>
          <p:cNvPr id="247" name="Google Shape;247;p33"/>
          <p:cNvSpPr txBox="1"/>
          <p:nvPr/>
        </p:nvSpPr>
        <p:spPr>
          <a:xfrm>
            <a:off x="4114800" y="2811780"/>
            <a:ext cx="914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C8C8C8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/>
          </a:p>
        </p:txBody>
      </p:sp>
      <p:sp>
        <p:nvSpPr>
          <p:cNvPr id="248" name="Google Shape;248;p33"/>
          <p:cNvSpPr txBox="1"/>
          <p:nvPr/>
        </p:nvSpPr>
        <p:spPr>
          <a:xfrm>
            <a:off x="5029200" y="2811780"/>
            <a:ext cx="3657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rPr>
              <a:t>Key Findings</a:t>
            </a:r>
            <a:endParaRPr/>
          </a:p>
        </p:txBody>
      </p:sp>
      <p:sp>
        <p:nvSpPr>
          <p:cNvPr id="249" name="Google Shape;249;p33"/>
          <p:cNvSpPr txBox="1"/>
          <p:nvPr/>
        </p:nvSpPr>
        <p:spPr>
          <a:xfrm>
            <a:off x="4114800" y="3188970"/>
            <a:ext cx="914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C8C8C8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/>
          </a:p>
        </p:txBody>
      </p:sp>
      <p:sp>
        <p:nvSpPr>
          <p:cNvPr id="250" name="Google Shape;250;p33"/>
          <p:cNvSpPr txBox="1"/>
          <p:nvPr/>
        </p:nvSpPr>
        <p:spPr>
          <a:xfrm>
            <a:off x="5029200" y="3188970"/>
            <a:ext cx="3657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rPr>
              <a:t>Conclusions</a:t>
            </a:r>
            <a:endParaRPr/>
          </a:p>
        </p:txBody>
      </p:sp>
      <p:sp>
        <p:nvSpPr>
          <p:cNvPr id="251" name="Google Shape;251;p33"/>
          <p:cNvSpPr txBox="1"/>
          <p:nvPr/>
        </p:nvSpPr>
        <p:spPr>
          <a:xfrm>
            <a:off x="4114800" y="3566160"/>
            <a:ext cx="914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C8C8C8"/>
                </a:solidFill>
                <a:latin typeface="Calibri"/>
                <a:ea typeface="Calibri"/>
                <a:cs typeface="Calibri"/>
                <a:sym typeface="Calibri"/>
              </a:rPr>
              <a:t>09</a:t>
            </a:r>
            <a:endParaRPr/>
          </a:p>
        </p:txBody>
      </p:sp>
      <p:sp>
        <p:nvSpPr>
          <p:cNvPr id="252" name="Google Shape;252;p33"/>
          <p:cNvSpPr txBox="1"/>
          <p:nvPr/>
        </p:nvSpPr>
        <p:spPr>
          <a:xfrm>
            <a:off x="5029200" y="3566160"/>
            <a:ext cx="3657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rPr>
              <a:t>Q&amp;A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4"/>
          <p:cNvSpPr txBox="1"/>
          <p:nvPr/>
        </p:nvSpPr>
        <p:spPr>
          <a:xfrm>
            <a:off x="457200" y="130540"/>
            <a:ext cx="8229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2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04  Training Results - Learning Curves</a:t>
            </a:r>
            <a:endParaRPr/>
          </a:p>
        </p:txBody>
      </p:sp>
      <p:pic>
        <p:nvPicPr>
          <p:cNvPr descr="training_history.png" id="258" name="Google Shape;258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175" y="715550"/>
            <a:ext cx="8968275" cy="394790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34"/>
          <p:cNvSpPr txBox="1"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12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LR decay at epoch 10 | CNN converges faster and reaches higher accuracy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5"/>
          <p:cNvSpPr txBox="1"/>
          <p:nvPr/>
        </p:nvSpPr>
        <p:spPr>
          <a:xfrm>
            <a:off x="457200" y="34290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40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04  Training Configuration &amp; Results</a:t>
            </a:r>
            <a:endParaRPr/>
          </a:p>
        </p:txBody>
      </p:sp>
      <p:sp>
        <p:nvSpPr>
          <p:cNvPr id="265" name="Google Shape;265;p35"/>
          <p:cNvSpPr txBox="1"/>
          <p:nvPr/>
        </p:nvSpPr>
        <p:spPr>
          <a:xfrm>
            <a:off x="731520" y="1234440"/>
            <a:ext cx="77724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Setup: </a:t>
            </a:r>
            <a:r>
              <a:rPr b="0" i="0" lang="en" sz="16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20 epochs | Adam optimizer (lr=0.001) | StepLR scheduler (decay 0.1x at epoch 10)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ANN Results: </a:t>
            </a:r>
            <a:r>
              <a:rPr b="0" i="0" lang="en" sz="16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Train: 92.25% | Val: 90.04% | Test: 89.34% | Converged: Epoch 7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CNN Results: </a:t>
            </a:r>
            <a:r>
              <a:rPr b="0" i="0" lang="en" sz="16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Train: 97.10% | Val: 93.40% | Test: 92.88% | Converged: Epoch 6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Overfitting: </a:t>
            </a:r>
            <a:r>
              <a:rPr b="0" i="0" lang="en" sz="16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ANN gap: 2.20% | CNN gap: 3.70% | Both show healthy generalization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6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2D2D2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36"/>
          <p:cNvSpPr txBox="1"/>
          <p:nvPr/>
        </p:nvSpPr>
        <p:spPr>
          <a:xfrm>
            <a:off x="314100" y="2063850"/>
            <a:ext cx="30294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Contents</a:t>
            </a:r>
            <a:endParaRPr/>
          </a:p>
        </p:txBody>
      </p:sp>
      <p:sp>
        <p:nvSpPr>
          <p:cNvPr id="272" name="Google Shape;272;p36"/>
          <p:cNvSpPr txBox="1"/>
          <p:nvPr/>
        </p:nvSpPr>
        <p:spPr>
          <a:xfrm>
            <a:off x="4114800" y="548640"/>
            <a:ext cx="914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C8C8C8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/>
          </a:p>
        </p:txBody>
      </p:sp>
      <p:sp>
        <p:nvSpPr>
          <p:cNvPr id="273" name="Google Shape;273;p36"/>
          <p:cNvSpPr txBox="1"/>
          <p:nvPr/>
        </p:nvSpPr>
        <p:spPr>
          <a:xfrm>
            <a:off x="5029200" y="548640"/>
            <a:ext cx="3657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rPr>
              <a:t>Project Overview</a:t>
            </a:r>
            <a:endParaRPr/>
          </a:p>
        </p:txBody>
      </p:sp>
      <p:sp>
        <p:nvSpPr>
          <p:cNvPr id="274" name="Google Shape;274;p36"/>
          <p:cNvSpPr txBox="1"/>
          <p:nvPr/>
        </p:nvSpPr>
        <p:spPr>
          <a:xfrm>
            <a:off x="4114800" y="925830"/>
            <a:ext cx="914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C8C8C8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/>
          </a:p>
        </p:txBody>
      </p:sp>
      <p:sp>
        <p:nvSpPr>
          <p:cNvPr id="275" name="Google Shape;275;p36"/>
          <p:cNvSpPr txBox="1"/>
          <p:nvPr/>
        </p:nvSpPr>
        <p:spPr>
          <a:xfrm>
            <a:off x="5029200" y="925830"/>
            <a:ext cx="3657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rPr>
              <a:t>Dataset &amp; Preprocessing</a:t>
            </a:r>
            <a:endParaRPr/>
          </a:p>
        </p:txBody>
      </p:sp>
      <p:sp>
        <p:nvSpPr>
          <p:cNvPr id="276" name="Google Shape;276;p36"/>
          <p:cNvSpPr txBox="1"/>
          <p:nvPr/>
        </p:nvSpPr>
        <p:spPr>
          <a:xfrm>
            <a:off x="4114800" y="1303020"/>
            <a:ext cx="914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C8C8C8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/>
          </a:p>
        </p:txBody>
      </p:sp>
      <p:sp>
        <p:nvSpPr>
          <p:cNvPr id="277" name="Google Shape;277;p36"/>
          <p:cNvSpPr txBox="1"/>
          <p:nvPr/>
        </p:nvSpPr>
        <p:spPr>
          <a:xfrm>
            <a:off x="5029200" y="1303020"/>
            <a:ext cx="3657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rPr>
              <a:t>Model Architectures</a:t>
            </a:r>
            <a:endParaRPr/>
          </a:p>
        </p:txBody>
      </p:sp>
      <p:sp>
        <p:nvSpPr>
          <p:cNvPr id="278" name="Google Shape;278;p36"/>
          <p:cNvSpPr txBox="1"/>
          <p:nvPr/>
        </p:nvSpPr>
        <p:spPr>
          <a:xfrm>
            <a:off x="4114800" y="1680210"/>
            <a:ext cx="914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C8C8C8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/>
          </a:p>
        </p:txBody>
      </p:sp>
      <p:sp>
        <p:nvSpPr>
          <p:cNvPr id="279" name="Google Shape;279;p36"/>
          <p:cNvSpPr txBox="1"/>
          <p:nvPr/>
        </p:nvSpPr>
        <p:spPr>
          <a:xfrm>
            <a:off x="5029200" y="1680210"/>
            <a:ext cx="3657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rPr>
              <a:t>Training Results</a:t>
            </a:r>
            <a:endParaRPr/>
          </a:p>
        </p:txBody>
      </p:sp>
      <p:sp>
        <p:nvSpPr>
          <p:cNvPr id="280" name="Google Shape;280;p36"/>
          <p:cNvSpPr txBox="1"/>
          <p:nvPr/>
        </p:nvSpPr>
        <p:spPr>
          <a:xfrm>
            <a:off x="4114800" y="2057400"/>
            <a:ext cx="914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/>
          </a:p>
        </p:txBody>
      </p:sp>
      <p:sp>
        <p:nvSpPr>
          <p:cNvPr id="281" name="Google Shape;281;p36"/>
          <p:cNvSpPr txBox="1"/>
          <p:nvPr/>
        </p:nvSpPr>
        <p:spPr>
          <a:xfrm>
            <a:off x="5029200" y="2057400"/>
            <a:ext cx="3657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Performance Comparison</a:t>
            </a:r>
            <a:endParaRPr/>
          </a:p>
        </p:txBody>
      </p:sp>
      <p:sp>
        <p:nvSpPr>
          <p:cNvPr id="282" name="Google Shape;282;p36"/>
          <p:cNvSpPr txBox="1"/>
          <p:nvPr/>
        </p:nvSpPr>
        <p:spPr>
          <a:xfrm>
            <a:off x="4114800" y="2434590"/>
            <a:ext cx="914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C8C8C8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/>
          </a:p>
        </p:txBody>
      </p:sp>
      <p:sp>
        <p:nvSpPr>
          <p:cNvPr id="283" name="Google Shape;283;p36"/>
          <p:cNvSpPr txBox="1"/>
          <p:nvPr/>
        </p:nvSpPr>
        <p:spPr>
          <a:xfrm>
            <a:off x="5029200" y="2434590"/>
            <a:ext cx="3657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rPr>
              <a:t>Confusion Analysis</a:t>
            </a:r>
            <a:endParaRPr/>
          </a:p>
        </p:txBody>
      </p:sp>
      <p:sp>
        <p:nvSpPr>
          <p:cNvPr id="284" name="Google Shape;284;p36"/>
          <p:cNvSpPr txBox="1"/>
          <p:nvPr/>
        </p:nvSpPr>
        <p:spPr>
          <a:xfrm>
            <a:off x="4114800" y="2811780"/>
            <a:ext cx="914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C8C8C8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/>
          </a:p>
        </p:txBody>
      </p:sp>
      <p:sp>
        <p:nvSpPr>
          <p:cNvPr id="285" name="Google Shape;285;p36"/>
          <p:cNvSpPr txBox="1"/>
          <p:nvPr/>
        </p:nvSpPr>
        <p:spPr>
          <a:xfrm>
            <a:off x="5029200" y="2811780"/>
            <a:ext cx="3657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rPr>
              <a:t>Key Findings</a:t>
            </a:r>
            <a:endParaRPr/>
          </a:p>
        </p:txBody>
      </p:sp>
      <p:sp>
        <p:nvSpPr>
          <p:cNvPr id="286" name="Google Shape;286;p36"/>
          <p:cNvSpPr txBox="1"/>
          <p:nvPr/>
        </p:nvSpPr>
        <p:spPr>
          <a:xfrm>
            <a:off x="4114800" y="3188970"/>
            <a:ext cx="914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C8C8C8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/>
          </a:p>
        </p:txBody>
      </p:sp>
      <p:sp>
        <p:nvSpPr>
          <p:cNvPr id="287" name="Google Shape;287;p36"/>
          <p:cNvSpPr txBox="1"/>
          <p:nvPr/>
        </p:nvSpPr>
        <p:spPr>
          <a:xfrm>
            <a:off x="5029200" y="3188970"/>
            <a:ext cx="3657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rPr>
              <a:t>Conclusions</a:t>
            </a:r>
            <a:endParaRPr/>
          </a:p>
        </p:txBody>
      </p:sp>
      <p:sp>
        <p:nvSpPr>
          <p:cNvPr id="288" name="Google Shape;288;p36"/>
          <p:cNvSpPr txBox="1"/>
          <p:nvPr/>
        </p:nvSpPr>
        <p:spPr>
          <a:xfrm>
            <a:off x="4114800" y="3566160"/>
            <a:ext cx="914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C8C8C8"/>
                </a:solidFill>
                <a:latin typeface="Calibri"/>
                <a:ea typeface="Calibri"/>
                <a:cs typeface="Calibri"/>
                <a:sym typeface="Calibri"/>
              </a:rPr>
              <a:t>09</a:t>
            </a:r>
            <a:endParaRPr/>
          </a:p>
        </p:txBody>
      </p:sp>
      <p:sp>
        <p:nvSpPr>
          <p:cNvPr id="289" name="Google Shape;289;p36"/>
          <p:cNvSpPr txBox="1"/>
          <p:nvPr/>
        </p:nvSpPr>
        <p:spPr>
          <a:xfrm>
            <a:off x="5029200" y="3566160"/>
            <a:ext cx="3657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rPr>
              <a:t>Q&amp;A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7"/>
          <p:cNvSpPr txBox="1"/>
          <p:nvPr/>
        </p:nvSpPr>
        <p:spPr>
          <a:xfrm>
            <a:off x="457200" y="20574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2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05  Performance Comparison</a:t>
            </a:r>
            <a:endParaRPr/>
          </a:p>
        </p:txBody>
      </p:sp>
      <p:pic>
        <p:nvPicPr>
          <p:cNvPr descr="performance_comparison.png" id="295" name="Google Shape;295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2575" y="885600"/>
            <a:ext cx="8518851" cy="3667601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37"/>
          <p:cNvSpPr txBox="1"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12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CNN achieves 3.54 percentage point improvement over ANN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8"/>
          <p:cNvSpPr txBox="1"/>
          <p:nvPr/>
        </p:nvSpPr>
        <p:spPr>
          <a:xfrm>
            <a:off x="457200" y="80415"/>
            <a:ext cx="8229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2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05  Detailed Metrics Summary</a:t>
            </a:r>
            <a:endParaRPr/>
          </a:p>
        </p:txBody>
      </p:sp>
      <p:pic>
        <p:nvPicPr>
          <p:cNvPr descr="metrics_summary.png" id="302" name="Google Shape;302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2838" y="597350"/>
            <a:ext cx="8318322" cy="3840502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8"/>
          <p:cNvSpPr txBox="1"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12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CNN outperforms across all metrics with fewer parameters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9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2D2D2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39"/>
          <p:cNvSpPr txBox="1"/>
          <p:nvPr/>
        </p:nvSpPr>
        <p:spPr>
          <a:xfrm>
            <a:off x="264000" y="2023100"/>
            <a:ext cx="31296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Content</a:t>
            </a:r>
            <a:r>
              <a:rPr b="1" lang="en" sz="6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endParaRPr/>
          </a:p>
        </p:txBody>
      </p:sp>
      <p:sp>
        <p:nvSpPr>
          <p:cNvPr id="310" name="Google Shape;310;p39"/>
          <p:cNvSpPr txBox="1"/>
          <p:nvPr/>
        </p:nvSpPr>
        <p:spPr>
          <a:xfrm>
            <a:off x="4114800" y="548640"/>
            <a:ext cx="914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C8C8C8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/>
          </a:p>
        </p:txBody>
      </p:sp>
      <p:sp>
        <p:nvSpPr>
          <p:cNvPr id="311" name="Google Shape;311;p39"/>
          <p:cNvSpPr txBox="1"/>
          <p:nvPr/>
        </p:nvSpPr>
        <p:spPr>
          <a:xfrm>
            <a:off x="5029200" y="548640"/>
            <a:ext cx="3657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rPr>
              <a:t>Project Overview</a:t>
            </a:r>
            <a:endParaRPr/>
          </a:p>
        </p:txBody>
      </p:sp>
      <p:sp>
        <p:nvSpPr>
          <p:cNvPr id="312" name="Google Shape;312;p39"/>
          <p:cNvSpPr txBox="1"/>
          <p:nvPr/>
        </p:nvSpPr>
        <p:spPr>
          <a:xfrm>
            <a:off x="4114800" y="925830"/>
            <a:ext cx="914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C8C8C8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/>
          </a:p>
        </p:txBody>
      </p:sp>
      <p:sp>
        <p:nvSpPr>
          <p:cNvPr id="313" name="Google Shape;313;p39"/>
          <p:cNvSpPr txBox="1"/>
          <p:nvPr/>
        </p:nvSpPr>
        <p:spPr>
          <a:xfrm>
            <a:off x="5029200" y="925830"/>
            <a:ext cx="3657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rPr>
              <a:t>Dataset &amp; Preprocessing</a:t>
            </a:r>
            <a:endParaRPr/>
          </a:p>
        </p:txBody>
      </p:sp>
      <p:sp>
        <p:nvSpPr>
          <p:cNvPr id="314" name="Google Shape;314;p39"/>
          <p:cNvSpPr txBox="1"/>
          <p:nvPr/>
        </p:nvSpPr>
        <p:spPr>
          <a:xfrm>
            <a:off x="4114800" y="1303020"/>
            <a:ext cx="914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C8C8C8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/>
          </a:p>
        </p:txBody>
      </p:sp>
      <p:sp>
        <p:nvSpPr>
          <p:cNvPr id="315" name="Google Shape;315;p39"/>
          <p:cNvSpPr txBox="1"/>
          <p:nvPr/>
        </p:nvSpPr>
        <p:spPr>
          <a:xfrm>
            <a:off x="5029200" y="1303020"/>
            <a:ext cx="3657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rPr>
              <a:t>Model Architectures</a:t>
            </a:r>
            <a:endParaRPr/>
          </a:p>
        </p:txBody>
      </p:sp>
      <p:sp>
        <p:nvSpPr>
          <p:cNvPr id="316" name="Google Shape;316;p39"/>
          <p:cNvSpPr txBox="1"/>
          <p:nvPr/>
        </p:nvSpPr>
        <p:spPr>
          <a:xfrm>
            <a:off x="4114800" y="1680210"/>
            <a:ext cx="914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C8C8C8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/>
          </a:p>
        </p:txBody>
      </p:sp>
      <p:sp>
        <p:nvSpPr>
          <p:cNvPr id="317" name="Google Shape;317;p39"/>
          <p:cNvSpPr txBox="1"/>
          <p:nvPr/>
        </p:nvSpPr>
        <p:spPr>
          <a:xfrm>
            <a:off x="5029200" y="1680210"/>
            <a:ext cx="3657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rPr>
              <a:t>Training Results</a:t>
            </a:r>
            <a:endParaRPr/>
          </a:p>
        </p:txBody>
      </p:sp>
      <p:sp>
        <p:nvSpPr>
          <p:cNvPr id="318" name="Google Shape;318;p39"/>
          <p:cNvSpPr txBox="1"/>
          <p:nvPr/>
        </p:nvSpPr>
        <p:spPr>
          <a:xfrm>
            <a:off x="4114800" y="2057400"/>
            <a:ext cx="914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C8C8C8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/>
          </a:p>
        </p:txBody>
      </p:sp>
      <p:sp>
        <p:nvSpPr>
          <p:cNvPr id="319" name="Google Shape;319;p39"/>
          <p:cNvSpPr txBox="1"/>
          <p:nvPr/>
        </p:nvSpPr>
        <p:spPr>
          <a:xfrm>
            <a:off x="5029200" y="2057400"/>
            <a:ext cx="3657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rPr>
              <a:t>Performance Comparison</a:t>
            </a:r>
            <a:endParaRPr/>
          </a:p>
        </p:txBody>
      </p:sp>
      <p:sp>
        <p:nvSpPr>
          <p:cNvPr id="320" name="Google Shape;320;p39"/>
          <p:cNvSpPr txBox="1"/>
          <p:nvPr/>
        </p:nvSpPr>
        <p:spPr>
          <a:xfrm>
            <a:off x="4114800" y="2434590"/>
            <a:ext cx="914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/>
          </a:p>
        </p:txBody>
      </p:sp>
      <p:sp>
        <p:nvSpPr>
          <p:cNvPr id="321" name="Google Shape;321;p39"/>
          <p:cNvSpPr txBox="1"/>
          <p:nvPr/>
        </p:nvSpPr>
        <p:spPr>
          <a:xfrm>
            <a:off x="5029200" y="2434590"/>
            <a:ext cx="3657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Confusion Analysis</a:t>
            </a:r>
            <a:endParaRPr/>
          </a:p>
        </p:txBody>
      </p:sp>
      <p:sp>
        <p:nvSpPr>
          <p:cNvPr id="322" name="Google Shape;322;p39"/>
          <p:cNvSpPr txBox="1"/>
          <p:nvPr/>
        </p:nvSpPr>
        <p:spPr>
          <a:xfrm>
            <a:off x="4114800" y="2811780"/>
            <a:ext cx="914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C8C8C8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/>
          </a:p>
        </p:txBody>
      </p:sp>
      <p:sp>
        <p:nvSpPr>
          <p:cNvPr id="323" name="Google Shape;323;p39"/>
          <p:cNvSpPr txBox="1"/>
          <p:nvPr/>
        </p:nvSpPr>
        <p:spPr>
          <a:xfrm>
            <a:off x="5029200" y="2811780"/>
            <a:ext cx="3657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rPr>
              <a:t>Key Findings</a:t>
            </a:r>
            <a:endParaRPr/>
          </a:p>
        </p:txBody>
      </p:sp>
      <p:sp>
        <p:nvSpPr>
          <p:cNvPr id="324" name="Google Shape;324;p39"/>
          <p:cNvSpPr txBox="1"/>
          <p:nvPr/>
        </p:nvSpPr>
        <p:spPr>
          <a:xfrm>
            <a:off x="4114800" y="3188970"/>
            <a:ext cx="914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C8C8C8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/>
          </a:p>
        </p:txBody>
      </p:sp>
      <p:sp>
        <p:nvSpPr>
          <p:cNvPr id="325" name="Google Shape;325;p39"/>
          <p:cNvSpPr txBox="1"/>
          <p:nvPr/>
        </p:nvSpPr>
        <p:spPr>
          <a:xfrm>
            <a:off x="5029200" y="3188970"/>
            <a:ext cx="3657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rPr>
              <a:t>Conclusions</a:t>
            </a:r>
            <a:endParaRPr/>
          </a:p>
        </p:txBody>
      </p:sp>
      <p:sp>
        <p:nvSpPr>
          <p:cNvPr id="326" name="Google Shape;326;p39"/>
          <p:cNvSpPr txBox="1"/>
          <p:nvPr/>
        </p:nvSpPr>
        <p:spPr>
          <a:xfrm>
            <a:off x="4114800" y="3566160"/>
            <a:ext cx="914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C8C8C8"/>
                </a:solidFill>
                <a:latin typeface="Calibri"/>
                <a:ea typeface="Calibri"/>
                <a:cs typeface="Calibri"/>
                <a:sym typeface="Calibri"/>
              </a:rPr>
              <a:t>09</a:t>
            </a:r>
            <a:endParaRPr/>
          </a:p>
        </p:txBody>
      </p:sp>
      <p:sp>
        <p:nvSpPr>
          <p:cNvPr id="327" name="Google Shape;327;p39"/>
          <p:cNvSpPr txBox="1"/>
          <p:nvPr/>
        </p:nvSpPr>
        <p:spPr>
          <a:xfrm>
            <a:off x="5029200" y="3566160"/>
            <a:ext cx="3657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rPr>
              <a:t>Q&amp;A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40"/>
          <p:cNvSpPr txBox="1"/>
          <p:nvPr/>
        </p:nvSpPr>
        <p:spPr>
          <a:xfrm>
            <a:off x="457200" y="205740"/>
            <a:ext cx="8229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2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06  Confusion Matrix - CNN Performance</a:t>
            </a:r>
            <a:endParaRPr/>
          </a:p>
        </p:txBody>
      </p:sp>
      <p:pic>
        <p:nvPicPr>
          <p:cNvPr descr="confusion_matrix_cnn.png" id="333" name="Google Shape;333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844547"/>
            <a:ext cx="8330874" cy="3674698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40"/>
          <p:cNvSpPr txBox="1"/>
          <p:nvPr/>
        </p:nvSpPr>
        <p:spPr>
          <a:xfrm>
            <a:off x="457200" y="4746440"/>
            <a:ext cx="8229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12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Dark blue diagonal = correct predictions | Off-diagonal = misclassifications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41"/>
          <p:cNvSpPr txBox="1"/>
          <p:nvPr/>
        </p:nvSpPr>
        <p:spPr>
          <a:xfrm>
            <a:off x="457200" y="20574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2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06  Per-Class Accuracy Breakdown</a:t>
            </a:r>
            <a:endParaRPr/>
          </a:p>
        </p:txBody>
      </p:sp>
      <p:pic>
        <p:nvPicPr>
          <p:cNvPr descr="per_class_accuracy.png" id="340" name="Google Shape;340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822946"/>
            <a:ext cx="8494019" cy="3599587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41"/>
          <p:cNvSpPr txBox="1"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12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Shirt is the most challenging class for both models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42"/>
          <p:cNvSpPr txBox="1"/>
          <p:nvPr/>
        </p:nvSpPr>
        <p:spPr>
          <a:xfrm>
            <a:off x="457200" y="34290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40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06  Confusion Analysis - Key Insights</a:t>
            </a:r>
            <a:endParaRPr/>
          </a:p>
        </p:txBody>
      </p:sp>
      <p:sp>
        <p:nvSpPr>
          <p:cNvPr id="347" name="Google Shape;347;p42"/>
          <p:cNvSpPr txBox="1"/>
          <p:nvPr/>
        </p:nvSpPr>
        <p:spPr>
          <a:xfrm>
            <a:off x="731520" y="1234440"/>
            <a:ext cx="77724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Best Classes: </a:t>
            </a:r>
            <a:r>
              <a:rPr b="0" i="0" lang="en" sz="16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Bags (98-99%), Trousers (97-99%), Sneakers (96-98%) - Distinctive shapes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Worst Class: </a:t>
            </a:r>
            <a:r>
              <a:rPr b="0" i="0" lang="en" sz="16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Shirts - ANN: 68%, CNN: 78% (+10% improvement but still challenging)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Main Confusion: </a:t>
            </a:r>
            <a:r>
              <a:rPr b="0" i="0" lang="en" sz="16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Shirt↔T-shirt: ANN 12.7%, CNN 8.2% | Similar upper-body garment shapes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Pattern: </a:t>
            </a:r>
            <a:r>
              <a:rPr b="0" i="0" lang="en" sz="16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Geometric items (bags, shoes) easier than textured garments (shirts, coats)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43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2D2D2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43"/>
          <p:cNvSpPr txBox="1"/>
          <p:nvPr/>
        </p:nvSpPr>
        <p:spPr>
          <a:xfrm>
            <a:off x="276450" y="2063850"/>
            <a:ext cx="31047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Contents</a:t>
            </a:r>
            <a:endParaRPr/>
          </a:p>
        </p:txBody>
      </p:sp>
      <p:sp>
        <p:nvSpPr>
          <p:cNvPr id="354" name="Google Shape;354;p43"/>
          <p:cNvSpPr txBox="1"/>
          <p:nvPr/>
        </p:nvSpPr>
        <p:spPr>
          <a:xfrm>
            <a:off x="4114800" y="548640"/>
            <a:ext cx="914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C8C8C8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/>
          </a:p>
        </p:txBody>
      </p:sp>
      <p:sp>
        <p:nvSpPr>
          <p:cNvPr id="355" name="Google Shape;355;p43"/>
          <p:cNvSpPr txBox="1"/>
          <p:nvPr/>
        </p:nvSpPr>
        <p:spPr>
          <a:xfrm>
            <a:off x="5029200" y="548640"/>
            <a:ext cx="3657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rPr>
              <a:t>Project Overview</a:t>
            </a:r>
            <a:endParaRPr/>
          </a:p>
        </p:txBody>
      </p:sp>
      <p:sp>
        <p:nvSpPr>
          <p:cNvPr id="356" name="Google Shape;356;p43"/>
          <p:cNvSpPr txBox="1"/>
          <p:nvPr/>
        </p:nvSpPr>
        <p:spPr>
          <a:xfrm>
            <a:off x="4114800" y="925830"/>
            <a:ext cx="914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C8C8C8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/>
          </a:p>
        </p:txBody>
      </p:sp>
      <p:sp>
        <p:nvSpPr>
          <p:cNvPr id="357" name="Google Shape;357;p43"/>
          <p:cNvSpPr txBox="1"/>
          <p:nvPr/>
        </p:nvSpPr>
        <p:spPr>
          <a:xfrm>
            <a:off x="5029200" y="925830"/>
            <a:ext cx="3657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rPr>
              <a:t>Dataset &amp; Preprocessing</a:t>
            </a:r>
            <a:endParaRPr/>
          </a:p>
        </p:txBody>
      </p:sp>
      <p:sp>
        <p:nvSpPr>
          <p:cNvPr id="358" name="Google Shape;358;p43"/>
          <p:cNvSpPr txBox="1"/>
          <p:nvPr/>
        </p:nvSpPr>
        <p:spPr>
          <a:xfrm>
            <a:off x="4114800" y="1303020"/>
            <a:ext cx="914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C8C8C8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/>
          </a:p>
        </p:txBody>
      </p:sp>
      <p:sp>
        <p:nvSpPr>
          <p:cNvPr id="359" name="Google Shape;359;p43"/>
          <p:cNvSpPr txBox="1"/>
          <p:nvPr/>
        </p:nvSpPr>
        <p:spPr>
          <a:xfrm>
            <a:off x="5029200" y="1303020"/>
            <a:ext cx="3657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rPr>
              <a:t>Model Architectures</a:t>
            </a:r>
            <a:endParaRPr/>
          </a:p>
        </p:txBody>
      </p:sp>
      <p:sp>
        <p:nvSpPr>
          <p:cNvPr id="360" name="Google Shape;360;p43"/>
          <p:cNvSpPr txBox="1"/>
          <p:nvPr/>
        </p:nvSpPr>
        <p:spPr>
          <a:xfrm>
            <a:off x="4114800" y="1680210"/>
            <a:ext cx="914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C8C8C8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/>
          </a:p>
        </p:txBody>
      </p:sp>
      <p:sp>
        <p:nvSpPr>
          <p:cNvPr id="361" name="Google Shape;361;p43"/>
          <p:cNvSpPr txBox="1"/>
          <p:nvPr/>
        </p:nvSpPr>
        <p:spPr>
          <a:xfrm>
            <a:off x="5029200" y="1680210"/>
            <a:ext cx="3657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rPr>
              <a:t>Training Results</a:t>
            </a:r>
            <a:endParaRPr/>
          </a:p>
        </p:txBody>
      </p:sp>
      <p:sp>
        <p:nvSpPr>
          <p:cNvPr id="362" name="Google Shape;362;p43"/>
          <p:cNvSpPr txBox="1"/>
          <p:nvPr/>
        </p:nvSpPr>
        <p:spPr>
          <a:xfrm>
            <a:off x="4114800" y="2057400"/>
            <a:ext cx="914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C8C8C8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/>
          </a:p>
        </p:txBody>
      </p:sp>
      <p:sp>
        <p:nvSpPr>
          <p:cNvPr id="363" name="Google Shape;363;p43"/>
          <p:cNvSpPr txBox="1"/>
          <p:nvPr/>
        </p:nvSpPr>
        <p:spPr>
          <a:xfrm>
            <a:off x="5029200" y="2057400"/>
            <a:ext cx="3657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rPr>
              <a:t>Performance Comparison</a:t>
            </a:r>
            <a:endParaRPr/>
          </a:p>
        </p:txBody>
      </p:sp>
      <p:sp>
        <p:nvSpPr>
          <p:cNvPr id="364" name="Google Shape;364;p43"/>
          <p:cNvSpPr txBox="1"/>
          <p:nvPr/>
        </p:nvSpPr>
        <p:spPr>
          <a:xfrm>
            <a:off x="4114800" y="2434590"/>
            <a:ext cx="914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C8C8C8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/>
          </a:p>
        </p:txBody>
      </p:sp>
      <p:sp>
        <p:nvSpPr>
          <p:cNvPr id="365" name="Google Shape;365;p43"/>
          <p:cNvSpPr txBox="1"/>
          <p:nvPr/>
        </p:nvSpPr>
        <p:spPr>
          <a:xfrm>
            <a:off x="5029200" y="2434590"/>
            <a:ext cx="3657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rPr>
              <a:t>Confusion Analysis</a:t>
            </a:r>
            <a:endParaRPr/>
          </a:p>
        </p:txBody>
      </p:sp>
      <p:sp>
        <p:nvSpPr>
          <p:cNvPr id="366" name="Google Shape;366;p43"/>
          <p:cNvSpPr txBox="1"/>
          <p:nvPr/>
        </p:nvSpPr>
        <p:spPr>
          <a:xfrm>
            <a:off x="4114800" y="2811780"/>
            <a:ext cx="914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/>
          </a:p>
        </p:txBody>
      </p:sp>
      <p:sp>
        <p:nvSpPr>
          <p:cNvPr id="367" name="Google Shape;367;p43"/>
          <p:cNvSpPr txBox="1"/>
          <p:nvPr/>
        </p:nvSpPr>
        <p:spPr>
          <a:xfrm>
            <a:off x="5029200" y="2811780"/>
            <a:ext cx="3657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Key Findings</a:t>
            </a:r>
            <a:endParaRPr/>
          </a:p>
        </p:txBody>
      </p:sp>
      <p:sp>
        <p:nvSpPr>
          <p:cNvPr id="368" name="Google Shape;368;p43"/>
          <p:cNvSpPr txBox="1"/>
          <p:nvPr/>
        </p:nvSpPr>
        <p:spPr>
          <a:xfrm>
            <a:off x="4114800" y="3188970"/>
            <a:ext cx="914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C8C8C8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/>
          </a:p>
        </p:txBody>
      </p:sp>
      <p:sp>
        <p:nvSpPr>
          <p:cNvPr id="369" name="Google Shape;369;p43"/>
          <p:cNvSpPr txBox="1"/>
          <p:nvPr/>
        </p:nvSpPr>
        <p:spPr>
          <a:xfrm>
            <a:off x="5029200" y="3188970"/>
            <a:ext cx="3657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rPr>
              <a:t>Conclusions</a:t>
            </a:r>
            <a:endParaRPr/>
          </a:p>
        </p:txBody>
      </p:sp>
      <p:sp>
        <p:nvSpPr>
          <p:cNvPr id="370" name="Google Shape;370;p43"/>
          <p:cNvSpPr txBox="1"/>
          <p:nvPr/>
        </p:nvSpPr>
        <p:spPr>
          <a:xfrm>
            <a:off x="4114800" y="3566160"/>
            <a:ext cx="914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C8C8C8"/>
                </a:solidFill>
                <a:latin typeface="Calibri"/>
                <a:ea typeface="Calibri"/>
                <a:cs typeface="Calibri"/>
                <a:sym typeface="Calibri"/>
              </a:rPr>
              <a:t>09</a:t>
            </a:r>
            <a:endParaRPr/>
          </a:p>
        </p:txBody>
      </p:sp>
      <p:sp>
        <p:nvSpPr>
          <p:cNvPr id="371" name="Google Shape;371;p43"/>
          <p:cNvSpPr txBox="1"/>
          <p:nvPr/>
        </p:nvSpPr>
        <p:spPr>
          <a:xfrm>
            <a:off x="5029200" y="3566160"/>
            <a:ext cx="3657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rPr>
              <a:t>Q&amp;A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44"/>
          <p:cNvSpPr txBox="1"/>
          <p:nvPr/>
        </p:nvSpPr>
        <p:spPr>
          <a:xfrm>
            <a:off x="457200" y="34290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40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07  Key Findings &amp; Analysis</a:t>
            </a:r>
            <a:endParaRPr/>
          </a:p>
        </p:txBody>
      </p:sp>
      <p:sp>
        <p:nvSpPr>
          <p:cNvPr id="377" name="Google Shape;377;p44"/>
          <p:cNvSpPr txBox="1"/>
          <p:nvPr/>
        </p:nvSpPr>
        <p:spPr>
          <a:xfrm>
            <a:off x="731520" y="1234440"/>
            <a:ext cx="77724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CNN Superiority: </a:t>
            </a:r>
            <a:r>
              <a:rPr b="0" i="0" lang="en" sz="16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92.88% vs 89.34% (+3.54%) with 25% fewer parameters demonstrates efficiency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Why CNN Wins: </a:t>
            </a:r>
            <a:r>
              <a:rPr b="0" i="0" lang="en" sz="16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Spatial hierarchies, translation invariance, parameter sharing enable better feature learning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Training Efficiency: </a:t>
            </a:r>
            <a:r>
              <a:rPr b="0" i="0" lang="en" sz="16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CNN converges 1 epoch faster despite more complex architecture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Innovation Impact: </a:t>
            </a:r>
            <a:r>
              <a:rPr b="0" i="0" lang="en" sz="16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Batch norm + dropout + LR scheduling = stable training without overfitting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45"/>
          <p:cNvSpPr txBox="1"/>
          <p:nvPr/>
        </p:nvSpPr>
        <p:spPr>
          <a:xfrm>
            <a:off x="457200" y="34290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40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07  Technical Deep Dive</a:t>
            </a:r>
            <a:endParaRPr/>
          </a:p>
        </p:txBody>
      </p:sp>
      <p:sp>
        <p:nvSpPr>
          <p:cNvPr id="383" name="Google Shape;383;p45"/>
          <p:cNvSpPr txBox="1"/>
          <p:nvPr/>
        </p:nvSpPr>
        <p:spPr>
          <a:xfrm>
            <a:off x="731520" y="1234440"/>
            <a:ext cx="77724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Feature Learning: </a:t>
            </a:r>
            <a:r>
              <a:rPr b="0" i="0" lang="en" sz="16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CNN learns hierarchical features: edges→textures→shapes vs ANN's flat features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Generalization: </a:t>
            </a:r>
            <a:r>
              <a:rPr b="0" i="0" lang="en" sz="16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0.52% val-test gap for CNN indicates excellent generalization, no overfitting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LR Scheduling: </a:t>
            </a:r>
            <a:r>
              <a:rPr b="0" i="0" lang="en" sz="16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Decay at epoch 10 provided +1.32% improvement for ANN, +0.77% for CNN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Future Work: </a:t>
            </a:r>
            <a:r>
              <a:rPr b="0" i="0" lang="en" sz="16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Data augmentation (+1-2% expected), ensemble methods, attention mechanisms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46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2D2D2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46"/>
          <p:cNvSpPr txBox="1"/>
          <p:nvPr/>
        </p:nvSpPr>
        <p:spPr>
          <a:xfrm>
            <a:off x="270150" y="2098150"/>
            <a:ext cx="31173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6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Contents</a:t>
            </a:r>
            <a:endParaRPr/>
          </a:p>
        </p:txBody>
      </p:sp>
      <p:sp>
        <p:nvSpPr>
          <p:cNvPr id="390" name="Google Shape;390;p46"/>
          <p:cNvSpPr txBox="1"/>
          <p:nvPr/>
        </p:nvSpPr>
        <p:spPr>
          <a:xfrm>
            <a:off x="4114800" y="548640"/>
            <a:ext cx="914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C8C8C8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/>
          </a:p>
        </p:txBody>
      </p:sp>
      <p:sp>
        <p:nvSpPr>
          <p:cNvPr id="391" name="Google Shape;391;p46"/>
          <p:cNvSpPr txBox="1"/>
          <p:nvPr/>
        </p:nvSpPr>
        <p:spPr>
          <a:xfrm>
            <a:off x="5029200" y="548640"/>
            <a:ext cx="3657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rPr>
              <a:t>Project Overview</a:t>
            </a:r>
            <a:endParaRPr/>
          </a:p>
        </p:txBody>
      </p:sp>
      <p:sp>
        <p:nvSpPr>
          <p:cNvPr id="392" name="Google Shape;392;p46"/>
          <p:cNvSpPr txBox="1"/>
          <p:nvPr/>
        </p:nvSpPr>
        <p:spPr>
          <a:xfrm>
            <a:off x="4114800" y="925830"/>
            <a:ext cx="914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C8C8C8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/>
          </a:p>
        </p:txBody>
      </p:sp>
      <p:sp>
        <p:nvSpPr>
          <p:cNvPr id="393" name="Google Shape;393;p46"/>
          <p:cNvSpPr txBox="1"/>
          <p:nvPr/>
        </p:nvSpPr>
        <p:spPr>
          <a:xfrm>
            <a:off x="5029200" y="925830"/>
            <a:ext cx="3657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rPr>
              <a:t>Dataset &amp; Preprocessing</a:t>
            </a:r>
            <a:endParaRPr/>
          </a:p>
        </p:txBody>
      </p:sp>
      <p:sp>
        <p:nvSpPr>
          <p:cNvPr id="394" name="Google Shape;394;p46"/>
          <p:cNvSpPr txBox="1"/>
          <p:nvPr/>
        </p:nvSpPr>
        <p:spPr>
          <a:xfrm>
            <a:off x="4114800" y="1303020"/>
            <a:ext cx="914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C8C8C8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/>
          </a:p>
        </p:txBody>
      </p:sp>
      <p:sp>
        <p:nvSpPr>
          <p:cNvPr id="395" name="Google Shape;395;p46"/>
          <p:cNvSpPr txBox="1"/>
          <p:nvPr/>
        </p:nvSpPr>
        <p:spPr>
          <a:xfrm>
            <a:off x="5029200" y="1303020"/>
            <a:ext cx="3657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rPr>
              <a:t>Model Architectures</a:t>
            </a:r>
            <a:endParaRPr/>
          </a:p>
        </p:txBody>
      </p:sp>
      <p:sp>
        <p:nvSpPr>
          <p:cNvPr id="396" name="Google Shape;396;p46"/>
          <p:cNvSpPr txBox="1"/>
          <p:nvPr/>
        </p:nvSpPr>
        <p:spPr>
          <a:xfrm>
            <a:off x="4114800" y="1680210"/>
            <a:ext cx="914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C8C8C8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/>
          </a:p>
        </p:txBody>
      </p:sp>
      <p:sp>
        <p:nvSpPr>
          <p:cNvPr id="397" name="Google Shape;397;p46"/>
          <p:cNvSpPr txBox="1"/>
          <p:nvPr/>
        </p:nvSpPr>
        <p:spPr>
          <a:xfrm>
            <a:off x="5029200" y="1680210"/>
            <a:ext cx="3657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rPr>
              <a:t>Training Results</a:t>
            </a:r>
            <a:endParaRPr/>
          </a:p>
        </p:txBody>
      </p:sp>
      <p:sp>
        <p:nvSpPr>
          <p:cNvPr id="398" name="Google Shape;398;p46"/>
          <p:cNvSpPr txBox="1"/>
          <p:nvPr/>
        </p:nvSpPr>
        <p:spPr>
          <a:xfrm>
            <a:off x="4114800" y="2057400"/>
            <a:ext cx="914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C8C8C8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/>
          </a:p>
        </p:txBody>
      </p:sp>
      <p:sp>
        <p:nvSpPr>
          <p:cNvPr id="399" name="Google Shape;399;p46"/>
          <p:cNvSpPr txBox="1"/>
          <p:nvPr/>
        </p:nvSpPr>
        <p:spPr>
          <a:xfrm>
            <a:off x="5029200" y="2057400"/>
            <a:ext cx="3657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rPr>
              <a:t>Performance Comparison</a:t>
            </a:r>
            <a:endParaRPr/>
          </a:p>
        </p:txBody>
      </p:sp>
      <p:sp>
        <p:nvSpPr>
          <p:cNvPr id="400" name="Google Shape;400;p46"/>
          <p:cNvSpPr txBox="1"/>
          <p:nvPr/>
        </p:nvSpPr>
        <p:spPr>
          <a:xfrm>
            <a:off x="4114800" y="2434590"/>
            <a:ext cx="914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C8C8C8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/>
          </a:p>
        </p:txBody>
      </p:sp>
      <p:sp>
        <p:nvSpPr>
          <p:cNvPr id="401" name="Google Shape;401;p46"/>
          <p:cNvSpPr txBox="1"/>
          <p:nvPr/>
        </p:nvSpPr>
        <p:spPr>
          <a:xfrm>
            <a:off x="5029200" y="2434590"/>
            <a:ext cx="3657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rPr>
              <a:t>Confusion Analysis</a:t>
            </a:r>
            <a:endParaRPr/>
          </a:p>
        </p:txBody>
      </p:sp>
      <p:sp>
        <p:nvSpPr>
          <p:cNvPr id="402" name="Google Shape;402;p46"/>
          <p:cNvSpPr txBox="1"/>
          <p:nvPr/>
        </p:nvSpPr>
        <p:spPr>
          <a:xfrm>
            <a:off x="4114800" y="2811780"/>
            <a:ext cx="914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C8C8C8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/>
          </a:p>
        </p:txBody>
      </p:sp>
      <p:sp>
        <p:nvSpPr>
          <p:cNvPr id="403" name="Google Shape;403;p46"/>
          <p:cNvSpPr txBox="1"/>
          <p:nvPr/>
        </p:nvSpPr>
        <p:spPr>
          <a:xfrm>
            <a:off x="5029200" y="2811780"/>
            <a:ext cx="3657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rPr>
              <a:t>Key Findings</a:t>
            </a:r>
            <a:endParaRPr/>
          </a:p>
        </p:txBody>
      </p:sp>
      <p:sp>
        <p:nvSpPr>
          <p:cNvPr id="404" name="Google Shape;404;p46"/>
          <p:cNvSpPr txBox="1"/>
          <p:nvPr/>
        </p:nvSpPr>
        <p:spPr>
          <a:xfrm>
            <a:off x="4114800" y="3188970"/>
            <a:ext cx="914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/>
          </a:p>
        </p:txBody>
      </p:sp>
      <p:sp>
        <p:nvSpPr>
          <p:cNvPr id="405" name="Google Shape;405;p46"/>
          <p:cNvSpPr txBox="1"/>
          <p:nvPr/>
        </p:nvSpPr>
        <p:spPr>
          <a:xfrm>
            <a:off x="5029200" y="3188970"/>
            <a:ext cx="3657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Conclusions</a:t>
            </a:r>
            <a:endParaRPr/>
          </a:p>
        </p:txBody>
      </p:sp>
      <p:sp>
        <p:nvSpPr>
          <p:cNvPr id="406" name="Google Shape;406;p46"/>
          <p:cNvSpPr txBox="1"/>
          <p:nvPr/>
        </p:nvSpPr>
        <p:spPr>
          <a:xfrm>
            <a:off x="4114800" y="3566160"/>
            <a:ext cx="914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000" u="none" cap="none" strike="noStrike">
                <a:solidFill>
                  <a:srgbClr val="C8C8C8"/>
                </a:solidFill>
                <a:latin typeface="Calibri"/>
                <a:ea typeface="Calibri"/>
                <a:cs typeface="Calibri"/>
                <a:sym typeface="Calibri"/>
              </a:rPr>
              <a:t>09</a:t>
            </a:r>
            <a:endParaRPr/>
          </a:p>
        </p:txBody>
      </p:sp>
      <p:sp>
        <p:nvSpPr>
          <p:cNvPr id="407" name="Google Shape;407;p46"/>
          <p:cNvSpPr txBox="1"/>
          <p:nvPr/>
        </p:nvSpPr>
        <p:spPr>
          <a:xfrm>
            <a:off x="5029200" y="3566160"/>
            <a:ext cx="3657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rgbClr val="B4B4B4"/>
                </a:solidFill>
                <a:latin typeface="Calibri"/>
                <a:ea typeface="Calibri"/>
                <a:cs typeface="Calibri"/>
                <a:sym typeface="Calibri"/>
              </a:rPr>
              <a:t>Q&amp;A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47"/>
          <p:cNvSpPr txBox="1"/>
          <p:nvPr/>
        </p:nvSpPr>
        <p:spPr>
          <a:xfrm>
            <a:off x="457200" y="34290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40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08  Conclusions &amp; Learning Outcomes</a:t>
            </a:r>
            <a:endParaRPr/>
          </a:p>
        </p:txBody>
      </p:sp>
      <p:sp>
        <p:nvSpPr>
          <p:cNvPr id="413" name="Google Shape;413;p47"/>
          <p:cNvSpPr txBox="1"/>
          <p:nvPr/>
        </p:nvSpPr>
        <p:spPr>
          <a:xfrm>
            <a:off x="731520" y="1234440"/>
            <a:ext cx="77724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Achievement: </a:t>
            </a:r>
            <a:r>
              <a:rPr b="0" i="0" lang="en" sz="16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Successfully implemented ANN &amp; CNN, achieving 92.88% test accuracy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Key Insight: </a:t>
            </a:r>
            <a:r>
              <a:rPr b="0" i="0" lang="en" sz="16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Architectural choice matters - CNNs exploit spatial structure for 4% accuracy gain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Best Practices: </a:t>
            </a:r>
            <a:r>
              <a:rPr b="0" i="0" lang="en" sz="16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Proper regularization (dropout + batch norm), learning rate scheduling, systematic evaluation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Skills Gained: </a:t>
            </a:r>
            <a:r>
              <a:rPr b="0" i="0" lang="en" sz="16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End-to-end ML pipeline: data preprocessing → model design → training → evaluation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48"/>
          <p:cNvSpPr txBox="1"/>
          <p:nvPr/>
        </p:nvSpPr>
        <p:spPr>
          <a:xfrm>
            <a:off x="457200" y="34290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40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08  Final Takeaways</a:t>
            </a:r>
            <a:endParaRPr/>
          </a:p>
        </p:txBody>
      </p:sp>
      <p:sp>
        <p:nvSpPr>
          <p:cNvPr id="419" name="Google Shape;419;p48"/>
          <p:cNvSpPr txBox="1"/>
          <p:nvPr/>
        </p:nvSpPr>
        <p:spPr>
          <a:xfrm>
            <a:off x="731520" y="1234440"/>
            <a:ext cx="77724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Validation: </a:t>
            </a:r>
            <a:r>
              <a:rPr b="0" i="0" lang="en" sz="16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Empirically demonstrated CNN superiority for image classification tasks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Innovation: </a:t>
            </a:r>
            <a:r>
              <a:rPr b="0" i="0" lang="en" sz="16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Feature visualization, training dynamics analysis, systematic confusion pattern study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Quality: </a:t>
            </a:r>
            <a:r>
              <a:rPr b="0" i="0" lang="en" sz="16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Professional implementation with reproducible results, comprehensive documentation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Impact: </a:t>
            </a:r>
            <a:r>
              <a:rPr b="0" i="0" lang="en" sz="1600" u="none" cap="none" strike="noStrike">
                <a:solidFill>
                  <a:srgbClr val="2D2D2D"/>
                </a:solidFill>
                <a:latin typeface="Calibri"/>
                <a:ea typeface="Calibri"/>
                <a:cs typeface="Calibri"/>
                <a:sym typeface="Calibri"/>
              </a:rPr>
              <a:t>Ready for deployment, extendable to more complex datasets with proposed improvements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6B35"/>
        </a:solidFill>
      </p:bgPr>
    </p:bg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49"/>
          <p:cNvSpPr txBox="1"/>
          <p:nvPr/>
        </p:nvSpPr>
        <p:spPr>
          <a:xfrm>
            <a:off x="914400" y="2057400"/>
            <a:ext cx="73152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7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Questions?</a:t>
            </a:r>
            <a:endParaRPr/>
          </a:p>
        </p:txBody>
      </p:sp>
      <p:sp>
        <p:nvSpPr>
          <p:cNvPr id="425" name="Google Shape;425;p49"/>
          <p:cNvSpPr txBox="1"/>
          <p:nvPr/>
        </p:nvSpPr>
        <p:spPr>
          <a:xfrm>
            <a:off x="914400" y="4457700"/>
            <a:ext cx="73152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P2926259 | Fashion-MNIST Classification | Neural Systems Coursework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